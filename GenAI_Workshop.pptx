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43">
          <p15:clr>
            <a:srgbClr val="A4A3A4"/>
          </p15:clr>
        </p15:guide>
        <p15:guide id="2" pos="5556">
          <p15:clr>
            <a:srgbClr val="A4A3A4"/>
          </p15:clr>
        </p15:guide>
        <p15:guide id="3" pos="34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iEuzgP/mF4+ZT36prZ9MV7eNND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43" orient="horz"/>
        <p:guide pos="5556"/>
        <p:guide pos="3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5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Montserrat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daa962460_3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9daa962460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daa962460_3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9daa962460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daa962460_3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9daa962460_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daa962460_3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9daa962460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daa962460_3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9daa962460_3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daa962460_3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9daa962460_3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daa962460_3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9daa962460_3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daa962460_3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9daa962460_3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daa962460_3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9daa962460_3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daa962460_3_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9daa962460_3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daa962460_3_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9daa962460_3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f3d54aac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9f3d54aa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daa962460_3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9daa962460_3_1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6"/>
          <p:cNvSpPr/>
          <p:nvPr/>
        </p:nvSpPr>
        <p:spPr>
          <a:xfrm>
            <a:off x="0" y="445025"/>
            <a:ext cx="8832300" cy="572700"/>
          </a:xfrm>
          <a:prstGeom prst="rect">
            <a:avLst/>
          </a:prstGeom>
          <a:solidFill>
            <a:srgbClr val="1B7A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1B7A86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86"/>
          <p:cNvSpPr txBox="1"/>
          <p:nvPr>
            <p:ph idx="1" type="body"/>
          </p:nvPr>
        </p:nvSpPr>
        <p:spPr>
          <a:xfrm>
            <a:off x="311700" y="1152475"/>
            <a:ext cx="8520600" cy="31209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7"/>
          <p:cNvSpPr txBox="1"/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87"/>
          <p:cNvSpPr txBox="1"/>
          <p:nvPr>
            <p:ph idx="1" type="subTitle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20" name="Google Shape;20;p87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87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87"/>
          <p:cNvSpPr txBox="1"/>
          <p:nvPr/>
        </p:nvSpPr>
        <p:spPr>
          <a:xfrm>
            <a:off x="240215" y="2864115"/>
            <a:ext cx="866370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Robert Spang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Visiting Scholar, Centre for Geographic Analysis, Harvard University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Quality and Usability Lab, Technical University of Berlin, Germany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Devika Kakkar and Xiaokang Fu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Centre for Geographic Analysis, Harvard University</a:t>
            </a:r>
            <a:endParaRPr/>
          </a:p>
        </p:txBody>
      </p:sp>
      <p:sp>
        <p:nvSpPr>
          <p:cNvPr id="24" name="Google Shape;24;p87"/>
          <p:cNvSpPr txBox="1"/>
          <p:nvPr/>
        </p:nvSpPr>
        <p:spPr>
          <a:xfrm>
            <a:off x="0" y="1616875"/>
            <a:ext cx="9144000" cy="9234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Python for Geospatial Big Data and Data Science</a:t>
            </a:r>
            <a:br>
              <a:rPr b="1" i="0" lang="en-US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-US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Using the FASRC</a:t>
            </a:r>
            <a:endParaRPr b="1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artners | The F(o)und Project" id="25" name="Google Shape;25;p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65344" y="4405468"/>
            <a:ext cx="1764792" cy="617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8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8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8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9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9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9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daa962460_3_1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g39daa962460_3_1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g39daa962460_3_1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daa962460_3_16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1" name="Google Shape;61;g39daa962460_3_1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daa962460_3_1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g39daa962460_3_16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5" name="Google Shape;65;g39daa962460_3_16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6" name="Google Shape;66;g39daa962460_3_1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daa962460_3_1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g39daa962460_3_1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daa962460_3_17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2" name="Google Shape;72;g39daa962460_3_17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g39daa962460_3_1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daa962460_3_17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6" name="Google Shape;76;g39daa962460_3_1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daa962460_3_18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9daa962460_3_18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" name="Google Shape;80;g39daa962460_3_18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1" name="Google Shape;81;g39daa962460_3_18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g39daa962460_3_1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daa962460_3_18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5" name="Google Shape;85;g39daa962460_3_1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daa962460_3_19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8" name="Google Shape;88;g39daa962460_3_19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g39daa962460_3_1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daa962460_3_1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daa962460_3_197"/>
          <p:cNvSpPr txBox="1"/>
          <p:nvPr>
            <p:ph idx="1" type="body"/>
          </p:nvPr>
        </p:nvSpPr>
        <p:spPr>
          <a:xfrm>
            <a:off x="228600" y="971550"/>
            <a:ext cx="8686800" cy="3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>
                <a:solidFill>
                  <a:srgbClr val="3F3F3F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  <a:defRPr>
                <a:solidFill>
                  <a:srgbClr val="595959"/>
                </a:solidFill>
              </a:defRPr>
            </a:lvl2pPr>
            <a:lvl3pPr indent="-3810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400"/>
              <a:buChar char="■"/>
              <a:defRPr>
                <a:solidFill>
                  <a:srgbClr val="595959"/>
                </a:solidFill>
              </a:defRPr>
            </a:lvl3pPr>
            <a:lvl4pPr indent="-3556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  <a:defRPr>
                <a:solidFill>
                  <a:srgbClr val="595959"/>
                </a:solidFill>
              </a:defRPr>
            </a:lvl4pPr>
            <a:lvl5pPr indent="-3556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000"/>
              <a:buChar char="○"/>
              <a:defRPr>
                <a:solidFill>
                  <a:srgbClr val="595959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94" name="Google Shape;94;g39daa962460_3_19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g39daa962460_3_1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9daa962460_3_1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g39daa962460_3_1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g39daa962460_3_1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platform.openai.com/docs/overview" TargetMode="External"/><Relationship Id="rId4" Type="http://schemas.openxmlformats.org/officeDocument/2006/relationships/hyperlink" Target="https://geopandas.org/en/stable/" TargetMode="External"/><Relationship Id="rId5" Type="http://schemas.openxmlformats.org/officeDocument/2006/relationships/hyperlink" Target="https://lmstudio.ai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kakkar@fas.harvard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/>
        </p:nvSpPr>
        <p:spPr>
          <a:xfrm>
            <a:off x="240215" y="2864115"/>
            <a:ext cx="8663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None/>
            </a:pPr>
            <a:r>
              <a:rPr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Devika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Jain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None/>
            </a:pPr>
            <a:r>
              <a:rPr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Centre for Geographic Analysis, Harvard University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0" y="1616875"/>
            <a:ext cx="9144000" cy="9126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Applying Large Language Models to Spatial Data</a:t>
            </a:r>
            <a:endParaRPr b="1" i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1B7A86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Overview</a:t>
            </a:r>
            <a:endParaRPr/>
          </a:p>
        </p:txBody>
      </p:sp>
      <p:sp>
        <p:nvSpPr>
          <p:cNvPr id="107" name="Google Shape;107;p2"/>
          <p:cNvSpPr txBox="1"/>
          <p:nvPr>
            <p:ph idx="1" type="body"/>
          </p:nvPr>
        </p:nvSpPr>
        <p:spPr>
          <a:xfrm>
            <a:off x="311700" y="1152475"/>
            <a:ext cx="8520600" cy="31209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Title: Introduction to applying Large Language Models (LLMs) on Spatial Data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Duration: 2 Hours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Format: Interactive, hands-on workshop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Tools: Python, Jupyter Notebook, LM Studio / Gemini, GeoPandas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daa962460_3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1B7A86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Learning Objectives</a:t>
            </a:r>
            <a:endParaRPr/>
          </a:p>
        </p:txBody>
      </p:sp>
      <p:sp>
        <p:nvSpPr>
          <p:cNvPr id="113" name="Google Shape;113;g39daa962460_3_0"/>
          <p:cNvSpPr txBox="1"/>
          <p:nvPr>
            <p:ph idx="1" type="body"/>
          </p:nvPr>
        </p:nvSpPr>
        <p:spPr>
          <a:xfrm>
            <a:off x="311700" y="1152475"/>
            <a:ext cx="8520600" cy="3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By the end of this workshop, you will be able to: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Understand how LLMs can classify and analyze geotagged text data.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Prepare and clean spatial text datasets.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Design and test effective prompts for classification.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Interact with LLMs via Python and APIs.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Visualize classified tweets to reveal insights.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daa962460_3_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1B7A86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Workshop Requirement</a:t>
            </a:r>
            <a:endParaRPr/>
          </a:p>
        </p:txBody>
      </p:sp>
      <p:sp>
        <p:nvSpPr>
          <p:cNvPr id="119" name="Google Shape;119;g39daa962460_3_11"/>
          <p:cNvSpPr txBox="1"/>
          <p:nvPr>
            <p:ph idx="1" type="body"/>
          </p:nvPr>
        </p:nvSpPr>
        <p:spPr>
          <a:xfrm>
            <a:off x="311700" y="1152475"/>
            <a:ext cx="8520600" cy="3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Basic Python knowledge (data frames, loops, APIs)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Laptop with: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Calibri"/>
                <a:ea typeface="Calibri"/>
                <a:cs typeface="Calibri"/>
                <a:sym typeface="Calibri"/>
              </a:rPr>
              <a:t>	Python 3.9+ and Jupyter Notebook,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Calibri"/>
                <a:ea typeface="Calibri"/>
                <a:cs typeface="Calibri"/>
                <a:sym typeface="Calibri"/>
              </a:rPr>
              <a:t>	LM Studio or OpenAI API key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Installed libraries: pandas, geopandas, matplotlib, requests, openai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Dataset: </a:t>
            </a:r>
            <a:r>
              <a:rPr i="1" lang="en-US">
                <a:latin typeface="Calibri"/>
                <a:ea typeface="Calibri"/>
                <a:cs typeface="Calibri"/>
                <a:sym typeface="Calibri"/>
              </a:rPr>
              <a:t>tweets_sample.csv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daa962460_3_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1B7A86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Workshop Requirement</a:t>
            </a:r>
            <a:endParaRPr/>
          </a:p>
        </p:txBody>
      </p:sp>
      <p:sp>
        <p:nvSpPr>
          <p:cNvPr id="125" name="Google Shape;125;g39daa962460_3_17"/>
          <p:cNvSpPr txBox="1"/>
          <p:nvPr>
            <p:ph idx="1" type="body"/>
          </p:nvPr>
        </p:nvSpPr>
        <p:spPr>
          <a:xfrm>
            <a:off x="311700" y="1152475"/>
            <a:ext cx="8520600" cy="3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Basic Python knowledge (data frames, loops, APIs)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Laptop with: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Calibri"/>
                <a:ea typeface="Calibri"/>
                <a:cs typeface="Calibri"/>
                <a:sym typeface="Calibri"/>
              </a:rPr>
              <a:t>	Python 3.9+ and Jupyter Notebook,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Calibri"/>
                <a:ea typeface="Calibri"/>
                <a:cs typeface="Calibri"/>
                <a:sym typeface="Calibri"/>
              </a:rPr>
              <a:t>	LM Studio or OpenAI API key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Installed libraries: pandas, geopandas, matplotlib, requests, openai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Dataset: </a:t>
            </a:r>
            <a:r>
              <a:rPr i="1" lang="en-US">
                <a:latin typeface="Calibri"/>
                <a:ea typeface="Calibri"/>
                <a:cs typeface="Calibri"/>
                <a:sym typeface="Calibri"/>
              </a:rPr>
              <a:t>tweets_sample.csv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daa962460_3_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1B7A86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Agenda Overview</a:t>
            </a:r>
            <a:endParaRPr/>
          </a:p>
        </p:txBody>
      </p:sp>
      <p:sp>
        <p:nvSpPr>
          <p:cNvPr id="131" name="Google Shape;131;g39daa962460_3_29"/>
          <p:cNvSpPr txBox="1"/>
          <p:nvPr>
            <p:ph idx="1" type="body"/>
          </p:nvPr>
        </p:nvSpPr>
        <p:spPr>
          <a:xfrm>
            <a:off x="311700" y="1152475"/>
            <a:ext cx="8520600" cy="3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0:00 – 0:10  Intro &amp; Overview  – Motivation and objectives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Calibri"/>
                <a:ea typeface="Calibri"/>
                <a:cs typeface="Calibri"/>
                <a:sym typeface="Calibri"/>
              </a:rPr>
              <a:t>0:10 – 0:25  Data Exploration   – Load, clean, and explore tweets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Calibri"/>
                <a:ea typeface="Calibri"/>
                <a:cs typeface="Calibri"/>
                <a:sym typeface="Calibri"/>
              </a:rPr>
              <a:t>0:25 – 0:45 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Model Integration  – Connect to LLM APIs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Calibri"/>
                <a:ea typeface="Calibri"/>
                <a:cs typeface="Calibri"/>
                <a:sym typeface="Calibri"/>
              </a:rPr>
              <a:t>0:45 – 1:10 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Prompt Design  	– Draft classification prompts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Calibri"/>
                <a:ea typeface="Calibri"/>
                <a:cs typeface="Calibri"/>
                <a:sym typeface="Calibri"/>
              </a:rPr>
              <a:t>1:10 – 1:30  Implementation    	– Run classifications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Calibri"/>
                <a:ea typeface="Calibri"/>
                <a:cs typeface="Calibri"/>
                <a:sym typeface="Calibri"/>
              </a:rPr>
              <a:t>1:30 – 1:50  Results  	– Analyse the classified tweets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Calibri"/>
                <a:ea typeface="Calibri"/>
                <a:cs typeface="Calibri"/>
                <a:sym typeface="Calibri"/>
              </a:rPr>
              <a:t>1:50 – 2:00  Conclusions     	– Discussion and next steps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daa962460_3_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1B7A86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Introduction to LLMs for Spatial</a:t>
            </a:r>
            <a:endParaRPr/>
          </a:p>
        </p:txBody>
      </p:sp>
      <p:sp>
        <p:nvSpPr>
          <p:cNvPr id="137" name="Google Shape;137;g39daa962460_3_35"/>
          <p:cNvSpPr txBox="1"/>
          <p:nvPr>
            <p:ph idx="1" type="body"/>
          </p:nvPr>
        </p:nvSpPr>
        <p:spPr>
          <a:xfrm>
            <a:off x="311700" y="1152475"/>
            <a:ext cx="8520600" cy="3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What are Large Language Models?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How can they process and classify text?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Why spatial context matters: linking location with meaning.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 use cases: public sentiment, event detection, policy mapping.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daa962460_3_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1B7A86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Exploring the dataset</a:t>
            </a:r>
            <a:endParaRPr/>
          </a:p>
        </p:txBody>
      </p:sp>
      <p:sp>
        <p:nvSpPr>
          <p:cNvPr id="143" name="Google Shape;143;g39daa962460_3_42"/>
          <p:cNvSpPr txBox="1"/>
          <p:nvPr>
            <p:ph idx="1" type="body"/>
          </p:nvPr>
        </p:nvSpPr>
        <p:spPr>
          <a:xfrm>
            <a:off x="311700" y="1152475"/>
            <a:ext cx="8520600" cy="3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Geotagged tweets: latitude, longitude, and text.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Cleaning text: remove URLs, emojis, and stopwords.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Hands-on: Explore dataset using pandas.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daa962460_3_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1B7A86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Connect to Large Language Model</a:t>
            </a:r>
            <a:endParaRPr/>
          </a:p>
        </p:txBody>
      </p:sp>
      <p:sp>
        <p:nvSpPr>
          <p:cNvPr id="149" name="Google Shape;149;g39daa962460_3_54"/>
          <p:cNvSpPr txBox="1"/>
          <p:nvPr>
            <p:ph idx="1" type="body"/>
          </p:nvPr>
        </p:nvSpPr>
        <p:spPr>
          <a:xfrm>
            <a:off x="311700" y="1152475"/>
            <a:ext cx="8520600" cy="3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LM Studio setup and Model loading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g39daa962460_3_54" title="Screenshot 2025-10-31 at 11.03.48 PM.png"/>
          <p:cNvPicPr preferRelativeResize="0"/>
          <p:nvPr/>
        </p:nvPicPr>
        <p:blipFill rotWithShape="1">
          <a:blip r:embed="rId3">
            <a:alphaModFix/>
          </a:blip>
          <a:srcRect b="16911" l="7366" r="7374" t="6979"/>
          <a:stretch/>
        </p:blipFill>
        <p:spPr>
          <a:xfrm>
            <a:off x="1471875" y="1695550"/>
            <a:ext cx="5779011" cy="33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daa962460_3_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1B7A86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Prompt Engineering</a:t>
            </a:r>
            <a:endParaRPr/>
          </a:p>
        </p:txBody>
      </p:sp>
      <p:sp>
        <p:nvSpPr>
          <p:cNvPr id="156" name="Google Shape;156;g39daa962460_3_48"/>
          <p:cNvSpPr txBox="1"/>
          <p:nvPr>
            <p:ph idx="1" type="body"/>
          </p:nvPr>
        </p:nvSpPr>
        <p:spPr>
          <a:xfrm>
            <a:off x="311700" y="1152475"/>
            <a:ext cx="8520600" cy="3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Prompts as instructions for LLMs.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Types: </a:t>
            </a:r>
            <a:r>
              <a:rPr i="1" lang="en-US">
                <a:latin typeface="Calibri"/>
                <a:ea typeface="Calibri"/>
                <a:cs typeface="Calibri"/>
                <a:sym typeface="Calibri"/>
              </a:rPr>
              <a:t>classification, summarization, reasoning.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lang="en-US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“Classify this tweet </a:t>
            </a:r>
            <a:r>
              <a:rPr lang="en-US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 about </a:t>
            </a:r>
            <a:r>
              <a:rPr i="1" lang="en-US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Public Health, Environment, or Transport</a:t>
            </a:r>
            <a:r>
              <a:rPr lang="en-US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  <a:br>
              <a:rPr lang="en-US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Calibri"/>
                <a:ea typeface="Calibri"/>
                <a:cs typeface="Calibri"/>
                <a:sym typeface="Calibri"/>
              </a:rPr>
              <a:t>Tips: be specific, structured, and consistent.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daa962460_3_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1B7A86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Visualizing Results</a:t>
            </a:r>
            <a:endParaRPr/>
          </a:p>
        </p:txBody>
      </p:sp>
      <p:sp>
        <p:nvSpPr>
          <p:cNvPr id="162" name="Google Shape;162;g39daa962460_3_76"/>
          <p:cNvSpPr txBox="1"/>
          <p:nvPr>
            <p:ph idx="1" type="body"/>
          </p:nvPr>
        </p:nvSpPr>
        <p:spPr>
          <a:xfrm>
            <a:off x="311700" y="1152475"/>
            <a:ext cx="8520600" cy="3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Pandas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matplotlib + folium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mapping.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Color-code tweets by category or sentiment.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spatial patterns and regional themes.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visualization output.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daa962460_3_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1B7A86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Wrap-up and Key Takeaways</a:t>
            </a:r>
            <a:endParaRPr/>
          </a:p>
        </p:txBody>
      </p:sp>
      <p:sp>
        <p:nvSpPr>
          <p:cNvPr id="168" name="Google Shape;168;g39daa962460_3_82"/>
          <p:cNvSpPr txBox="1"/>
          <p:nvPr>
            <p:ph idx="1" type="body"/>
          </p:nvPr>
        </p:nvSpPr>
        <p:spPr>
          <a:xfrm>
            <a:off x="311700" y="1152475"/>
            <a:ext cx="8520600" cy="3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LLMs can enhance spatial data analysis through classification and interpretation.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Prompt design is critical for accuracy.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APIs enable scalable AI integration.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Visualizations reveal geospatial insights.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daa962460_3_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1B7A86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Next step and Resources</a:t>
            </a:r>
            <a:endParaRPr/>
          </a:p>
        </p:txBody>
      </p:sp>
      <p:sp>
        <p:nvSpPr>
          <p:cNvPr id="174" name="Google Shape;174;g39daa962460_3_88"/>
          <p:cNvSpPr txBox="1"/>
          <p:nvPr>
            <p:ph idx="1" type="body"/>
          </p:nvPr>
        </p:nvSpPr>
        <p:spPr>
          <a:xfrm>
            <a:off x="311700" y="1152475"/>
            <a:ext cx="8520600" cy="3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Try embeddings for clustering or RAG workflows.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Extend analysis with dashboards.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Resources: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Char char="○"/>
            </a:pPr>
            <a:r>
              <a:rPr lang="en-US" sz="24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OpenAI API Docs</a:t>
            </a:r>
            <a:endParaRPr sz="24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Char char="○"/>
            </a:pPr>
            <a:r>
              <a:rPr lang="en-US" sz="24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GeoPandas</a:t>
            </a:r>
            <a:endParaRPr sz="24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Char char="○"/>
            </a:pPr>
            <a:r>
              <a:rPr lang="en-US" sz="24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LM Studio</a:t>
            </a:r>
            <a:endParaRPr sz="24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f3d54aaca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1B7A86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180" name="Google Shape;180;g39f3d54aaca_0_0"/>
          <p:cNvSpPr txBox="1"/>
          <p:nvPr>
            <p:ph idx="1" type="body"/>
          </p:nvPr>
        </p:nvSpPr>
        <p:spPr>
          <a:xfrm>
            <a:off x="311700" y="1152475"/>
            <a:ext cx="8520600" cy="3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Find the exercise document in the GitHub repo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g39f3d54aaca_0_0" title="My_QR_Code_1-1024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2850" y="1969604"/>
            <a:ext cx="3227832" cy="3227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daa962460_3_150"/>
          <p:cNvSpPr txBox="1"/>
          <p:nvPr/>
        </p:nvSpPr>
        <p:spPr>
          <a:xfrm>
            <a:off x="240215" y="2683863"/>
            <a:ext cx="8663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Devika Jain </a:t>
            </a:r>
            <a:endParaRPr sz="2400">
              <a:solidFill>
                <a:schemeClr val="dk1"/>
              </a:solidFill>
            </a:endParaRPr>
          </a:p>
          <a:p>
            <a:pPr indent="45720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kakkar@fas.harvard.edu</a:t>
            </a:r>
            <a:endParaRPr sz="2400">
              <a:solidFill>
                <a:srgbClr val="0000FF"/>
              </a:solidFill>
            </a:endParaRPr>
          </a:p>
        </p:txBody>
      </p:sp>
      <p:sp>
        <p:nvSpPr>
          <p:cNvPr id="187" name="Google Shape;187;g39daa962460_3_150"/>
          <p:cNvSpPr txBox="1"/>
          <p:nvPr/>
        </p:nvSpPr>
        <p:spPr>
          <a:xfrm>
            <a:off x="0" y="1921675"/>
            <a:ext cx="9144000" cy="5541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Questions/ Comments?</a:t>
            </a:r>
            <a:endParaRPr b="1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